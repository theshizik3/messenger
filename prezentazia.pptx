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  <a:srgbClr val="27272B"/>
    <a:srgbClr val="2B2B2F"/>
    <a:srgbClr val="3B3B3F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2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ABCF22-AF75-24D4-9121-7650D19AFF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9F6BE91-CE58-2AFD-DED8-226730148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7A1F05-FCCF-B1AA-B68D-C39E1499F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D0D3D-92DF-4109-B73C-9E6AD553AF58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322C66-F8E7-0638-551C-A2BA837A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D466572-B113-759F-7458-5667EDC0E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85416-F86F-4435-99DD-B6329B5D56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8516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BC71B3-58FE-74E8-79E9-FC30B955F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E12EEAE-D7F1-A4B5-6377-66705EC677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662221C-C12F-0E1C-2BFD-906C45024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D0D3D-92DF-4109-B73C-9E6AD553AF58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B2A881F-199C-411F-CD20-942686428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198E53C-9589-9F81-B9B9-1DE03B20C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85416-F86F-4435-99DD-B6329B5D56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4811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8EAF68-4158-CEEE-2DFC-6BCB21340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CADEA4E-F806-8CDA-E85B-9432261AF8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C429C21-5B14-6426-9796-DFCE42623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D0D3D-92DF-4109-B73C-9E6AD553AF58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1C3DCE6-03EF-58F5-BD85-54C4C5673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071021B-7081-66A9-4BAA-872589818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85416-F86F-4435-99DD-B6329B5D56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5984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3A8627-D462-CCE1-7D7B-DE76F724C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307FAF-7C95-2E68-506D-240B47DF9E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5632E1B-1B43-636E-4C4E-DBB596A395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EEFC0C8-E300-FBE5-20FB-B82CFA889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D0D3D-92DF-4109-B73C-9E6AD553AF58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4B03729-7A02-33FB-4B2A-F6B9264FE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7703987-F11D-B3A0-3E35-94DB13CDE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85416-F86F-4435-99DD-B6329B5D56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5957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2AB3CD-1495-B699-DBBE-777194B3F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FA47D86-D7C3-8017-6E5E-3ECFF8E5EC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BB5D6578-D9EA-0CD3-81C7-0A3B4A14AD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BF3B0F04-8304-4450-D642-6F3EE75A3E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BAB3BE6-9EBA-DBB8-91AA-BFDB0A5CEF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819BBF3-2F93-48FC-BF55-E018CC681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D0D3D-92DF-4109-B73C-9E6AD553AF58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F9F1698-0625-120F-A9ED-7FE38DBB34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51B5A9B-EACB-3E25-D03D-E29A33C0A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85416-F86F-4435-99DD-B6329B5D56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5981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CC93B7-F0EF-B46B-FFB4-A38E001E8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D7AF6AE-E819-0937-FB95-23EC5D12C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D0D3D-92DF-4109-B73C-9E6AD553AF58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329E608-8489-50BE-3642-170664DD6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7D6D168-8362-1223-C0CB-8E9BEF44D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85416-F86F-4435-99DD-B6329B5D56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2690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51F83A2-DD6A-DB60-B99B-A2B1CE7E2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D0D3D-92DF-4109-B73C-9E6AD553AF58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BA1F4B2-0D42-5BFA-63D0-A75025F83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41D3A74-0ABB-4305-0037-B2472711D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85416-F86F-4435-99DD-B6329B5D56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1674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3798BD-5D55-1D3E-74ED-9BDE18C64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5843F91-A47E-7E59-DB51-D7B3F81069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1A1009-90E1-312E-6092-A3CD13DAE0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C4FBBE9-9202-9A0C-AD04-32067FC60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D0D3D-92DF-4109-B73C-9E6AD553AF58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79FEEC2-CE85-7BF4-CD39-4BBF35C66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BED2E14-EE5D-76F1-EA48-11A78276E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85416-F86F-4435-99DD-B6329B5D56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9991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72CCEA-1B5F-27B3-6938-1AD0A1FF8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16596F8-241D-430A-89A8-878E1186B0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F15BAE4-B302-B145-12ED-AAD5D8D15C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15FE471-4241-51BB-8C4F-892429229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D0D3D-92DF-4109-B73C-9E6AD553AF58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908F35C-EC36-4AD2-CBD3-8698FAC9A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0C92E9D-3A1C-5D62-E91F-10FD1F81B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85416-F86F-4435-99DD-B6329B5D56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9917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E0F12A-29D6-226F-2142-0B7D91FDF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8B6F28A-1780-D4A3-F657-CF6B72364F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7F8B425-CC75-466B-AB14-8A7270724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D0D3D-92DF-4109-B73C-9E6AD553AF58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3CFE2A4-C7FA-4CAD-EB45-317FA2958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F0D9C66-7567-E1E1-1F17-7BD459D12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85416-F86F-4435-99DD-B6329B5D56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6303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25148DB-8CDB-7679-0723-EF12A8A039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F9703D3-7C31-C30A-F240-8FC93054A3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78D3E26-564D-78D1-6582-BE02DF161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DD0D3D-92DF-4109-B73C-9E6AD553AF58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91AC96-EB26-F990-F050-CFAB1BA47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69667D3-AE67-64F7-0ABF-781BE9BF9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85416-F86F-4435-99DD-B6329B5D56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50785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756D9C-F800-0714-F3A9-940B0B258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0AB6B24-7D1F-CA3C-E46B-2F54981BBD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CE5FEA4-114C-D304-71F0-CF6CE1D508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DD0D3D-92DF-4109-B73C-9E6AD553AF58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2F712D8-3A0B-7DAB-6DA5-9393D4DFEE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E548BB0-A69B-A3FB-48AA-B87146B1F0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285416-F86F-4435-99DD-B6329B5D56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2223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6A3683-530D-D3F1-115F-0F5E775D44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02638"/>
            <a:ext cx="9144000" cy="2387600"/>
          </a:xfrm>
        </p:spPr>
        <p:txBody>
          <a:bodyPr/>
          <a:lstStyle/>
          <a:p>
            <a:r>
              <a:rPr lang="ru-RU" b="1" dirty="0">
                <a:solidFill>
                  <a:srgbClr val="FFCC00"/>
                </a:solidFill>
                <a:latin typeface="Bahnschrift" panose="020B0502040204020203" pitchFamily="34" charset="0"/>
              </a:rPr>
              <a:t>Разработка </a:t>
            </a:r>
            <a:r>
              <a:rPr lang="en-US" b="1" dirty="0">
                <a:solidFill>
                  <a:srgbClr val="FFCC00"/>
                </a:solidFill>
                <a:latin typeface="Bahnschrift" panose="020B0502040204020203" pitchFamily="34" charset="0"/>
              </a:rPr>
              <a:t>desktop</a:t>
            </a:r>
            <a:r>
              <a:rPr lang="ru-RU" b="1" dirty="0">
                <a:solidFill>
                  <a:srgbClr val="FFCC00"/>
                </a:solidFill>
                <a:latin typeface="Bahnschrift" panose="020B0502040204020203" pitchFamily="34" charset="0"/>
              </a:rPr>
              <a:t> мессенджера на  С++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5A95735-454A-E8FB-1A14-F6C70E488A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b="1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Выполнили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:</a:t>
            </a:r>
            <a:r>
              <a:rPr lang="en-US" dirty="0"/>
              <a:t> 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Горожанкин Андрей, </a:t>
            </a:r>
            <a:r>
              <a:rPr lang="ru-RU" dirty="0" err="1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Надолинский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 Даниил</a:t>
            </a:r>
          </a:p>
          <a:p>
            <a:r>
              <a:rPr lang="ru-RU" b="1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Научный руководитель</a:t>
            </a:r>
            <a:r>
              <a:rPr lang="en-US" b="1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: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 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Павлов Михаил Александрович</a:t>
            </a:r>
            <a:endParaRPr lang="en-US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endParaRP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  <a:ea typeface="Raleway Medium" pitchFamily="34" charset="-122"/>
                <a:cs typeface="Raleway Medium" pitchFamily="34" charset="-120"/>
              </a:rPr>
              <a:t>ГБОУ «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  <a:ea typeface="Raleway Medium" pitchFamily="34" charset="-122"/>
                <a:cs typeface="Raleway Medium" pitchFamily="34" charset="-120"/>
              </a:rPr>
              <a:t>Бауманская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  <a:ea typeface="Raleway Medium" pitchFamily="34" charset="-122"/>
                <a:cs typeface="Raleway Medium" pitchFamily="34" charset="-120"/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  <a:ea typeface="Raleway Medium" pitchFamily="34" charset="-122"/>
                <a:cs typeface="Raleway Medium" pitchFamily="34" charset="-120"/>
              </a:rPr>
              <a:t>инженерная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  <a:ea typeface="Raleway Medium" pitchFamily="34" charset="-122"/>
                <a:cs typeface="Raleway Medium" pitchFamily="34" charset="-120"/>
              </a:rPr>
              <a:t>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  <a:ea typeface="Raleway Medium" pitchFamily="34" charset="-122"/>
                <a:cs typeface="Raleway Medium" pitchFamily="34" charset="-120"/>
              </a:rPr>
              <a:t>школа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  <a:ea typeface="Raleway Medium" pitchFamily="34" charset="-122"/>
                <a:cs typeface="Raleway Medium" pitchFamily="34" charset="-120"/>
              </a:rPr>
              <a:t> №1580»</a:t>
            </a:r>
            <a:endParaRPr lang="en-US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endParaRPr>
          </a:p>
          <a:p>
            <a:endParaRPr lang="ru-RU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7331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0CBCCD-22F6-954E-0BEB-AD77E91A5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FFCC00"/>
                </a:solidFill>
                <a:latin typeface="Bahnschrift" panose="020B0502040204020203" pitchFamily="34" charset="0"/>
              </a:rPr>
              <a:t>Актуальность, цель и задачи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3A14D370-118D-A3B4-3E58-5FAD390330FC}"/>
              </a:ext>
            </a:extLst>
          </p:cNvPr>
          <p:cNvSpPr/>
          <p:nvPr/>
        </p:nvSpPr>
        <p:spPr>
          <a:xfrm>
            <a:off x="838200" y="1978701"/>
            <a:ext cx="3463977" cy="4514173"/>
          </a:xfrm>
          <a:prstGeom prst="roundRect">
            <a:avLst/>
          </a:prstGeom>
          <a:solidFill>
            <a:srgbClr val="3B3B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2558F0CA-921C-9370-5CC1-0DFD16E7F3C6}"/>
              </a:ext>
            </a:extLst>
          </p:cNvPr>
          <p:cNvSpPr/>
          <p:nvPr/>
        </p:nvSpPr>
        <p:spPr>
          <a:xfrm>
            <a:off x="4618219" y="1978700"/>
            <a:ext cx="3463977" cy="4514173"/>
          </a:xfrm>
          <a:prstGeom prst="roundRect">
            <a:avLst/>
          </a:prstGeom>
          <a:solidFill>
            <a:srgbClr val="3B3B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D25D4201-6D67-EFBD-BC9B-8C7079830654}"/>
              </a:ext>
            </a:extLst>
          </p:cNvPr>
          <p:cNvSpPr/>
          <p:nvPr/>
        </p:nvSpPr>
        <p:spPr>
          <a:xfrm>
            <a:off x="8398238" y="1978699"/>
            <a:ext cx="3463977" cy="4514173"/>
          </a:xfrm>
          <a:prstGeom prst="roundRect">
            <a:avLst/>
          </a:prstGeom>
          <a:solidFill>
            <a:srgbClr val="3B3B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16CA30-942F-2E3C-626E-5F0C0686FF08}"/>
              </a:ext>
            </a:extLst>
          </p:cNvPr>
          <p:cNvSpPr txBox="1"/>
          <p:nvPr/>
        </p:nvSpPr>
        <p:spPr>
          <a:xfrm>
            <a:off x="1495214" y="2233531"/>
            <a:ext cx="21499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>
                <a:solidFill>
                  <a:srgbClr val="FFCC00"/>
                </a:solidFill>
                <a:latin typeface="Bahnschrift" panose="020B0502040204020203" pitchFamily="34" charset="0"/>
              </a:rPr>
              <a:t>Актуальность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33E83B8-6815-1E4F-ED04-7C6507AE03F3}"/>
              </a:ext>
            </a:extLst>
          </p:cNvPr>
          <p:cNvSpPr txBox="1"/>
          <p:nvPr/>
        </p:nvSpPr>
        <p:spPr>
          <a:xfrm>
            <a:off x="5754919" y="2233530"/>
            <a:ext cx="8980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>
                <a:solidFill>
                  <a:srgbClr val="FFCC00"/>
                </a:solidFill>
                <a:latin typeface="Bahnschrift" panose="020B0502040204020203" pitchFamily="34" charset="0"/>
              </a:rPr>
              <a:t>Цель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8F8BE2-A82D-12BF-476F-60B7DF774BF1}"/>
              </a:ext>
            </a:extLst>
          </p:cNvPr>
          <p:cNvSpPr txBox="1"/>
          <p:nvPr/>
        </p:nvSpPr>
        <p:spPr>
          <a:xfrm>
            <a:off x="9539603" y="2233526"/>
            <a:ext cx="12362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400" b="1" dirty="0">
                <a:solidFill>
                  <a:srgbClr val="FFCC00"/>
                </a:solidFill>
                <a:latin typeface="Bahnschrift" panose="020B0502040204020203" pitchFamily="34" charset="0"/>
              </a:rPr>
              <a:t>Задачи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5FD38CE-5104-D88C-FA71-C6C736059115}"/>
              </a:ext>
            </a:extLst>
          </p:cNvPr>
          <p:cNvSpPr txBox="1"/>
          <p:nvPr/>
        </p:nvSpPr>
        <p:spPr>
          <a:xfrm>
            <a:off x="224852" y="169068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66A5EE-BE59-88F1-EEBA-8DB614F90512}"/>
              </a:ext>
            </a:extLst>
          </p:cNvPr>
          <p:cNvSpPr txBox="1"/>
          <p:nvPr/>
        </p:nvSpPr>
        <p:spPr>
          <a:xfrm>
            <a:off x="4714404" y="2695191"/>
            <a:ext cx="327160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Освоить разработку Desktop приложений и взаимодействие с веб-сокетами на C++, Разработать и реализовать простейший работоспособный мессенджер, состоящий из сервера и клиента.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71BD10-1746-B767-73CC-B7E610E1FD3D}"/>
              </a:ext>
            </a:extLst>
          </p:cNvPr>
          <p:cNvSpPr txBox="1"/>
          <p:nvPr/>
        </p:nvSpPr>
        <p:spPr>
          <a:xfrm>
            <a:off x="839894" y="2695191"/>
            <a:ext cx="346228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Современный пользователь всё больше ценит интуитивный интерфейс, быстрый отклик от приложения, дополнительные функции и интеграции, а</a:t>
            </a:r>
            <a:br>
              <a:rPr lang="ru-RU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</a:b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многие популярные мессенджеры имеют ограничения по функционалу и интерфейсу, что создаёт возможность для инноваций.</a:t>
            </a:r>
          </a:p>
          <a:p>
            <a:pPr algn="ctr"/>
            <a:endParaRPr lang="ru-RU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2D7BC0A-991E-C96D-4368-AA72610CFB42}"/>
              </a:ext>
            </a:extLst>
          </p:cNvPr>
          <p:cNvSpPr txBox="1"/>
          <p:nvPr/>
        </p:nvSpPr>
        <p:spPr>
          <a:xfrm>
            <a:off x="8465261" y="2695191"/>
            <a:ext cx="332992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- Собрать информацию о уже существующих мессенджерах</a:t>
            </a:r>
            <a:br>
              <a:rPr lang="ru-RU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</a:b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- Написать </a:t>
            </a:r>
            <a:r>
              <a:rPr lang="ru-RU" dirty="0" err="1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gui</a:t>
            </a:r>
            <a:br>
              <a:rPr lang="ru-RU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</a:b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- Реализовать </a:t>
            </a:r>
            <a:r>
              <a:rPr lang="ru-RU" dirty="0" err="1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backend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 часть приложения</a:t>
            </a:r>
            <a:br>
              <a:rPr lang="ru-RU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</a:b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- Создать сервер для обмена данными</a:t>
            </a:r>
            <a:br>
              <a:rPr lang="ru-RU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</a:b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- Скомпилировать приложение на Linux</a:t>
            </a:r>
          </a:p>
        </p:txBody>
      </p:sp>
    </p:spTree>
    <p:extLst>
      <p:ext uri="{BB962C8B-B14F-4D97-AF65-F5344CB8AC3E}">
        <p14:creationId xmlns:p14="http://schemas.microsoft.com/office/powerpoint/2010/main" val="3069088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28C707-43C2-04E6-1855-8D9443C85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FFCC00"/>
                </a:solidFill>
                <a:latin typeface="Bahnschrift" panose="020B0502040204020203" pitchFamily="34" charset="0"/>
              </a:rPr>
              <a:t>Выбор технологий и инструментов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84EB7E2B-2D91-DE3E-6728-43637547653D}"/>
              </a:ext>
            </a:extLst>
          </p:cNvPr>
          <p:cNvSpPr/>
          <p:nvPr/>
        </p:nvSpPr>
        <p:spPr>
          <a:xfrm>
            <a:off x="838200" y="1548244"/>
            <a:ext cx="6282128" cy="1325563"/>
          </a:xfrm>
          <a:prstGeom prst="roundRect">
            <a:avLst/>
          </a:prstGeom>
          <a:solidFill>
            <a:srgbClr val="3B3B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F475E064-FE13-2508-94D0-0A702726A383}"/>
              </a:ext>
            </a:extLst>
          </p:cNvPr>
          <p:cNvSpPr/>
          <p:nvPr/>
        </p:nvSpPr>
        <p:spPr>
          <a:xfrm>
            <a:off x="838200" y="3026964"/>
            <a:ext cx="8320790" cy="1325563"/>
          </a:xfrm>
          <a:prstGeom prst="roundRect">
            <a:avLst/>
          </a:prstGeom>
          <a:solidFill>
            <a:srgbClr val="3B3B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A818DF9D-8A32-3BBB-3B5F-2A0C563DBEB6}"/>
              </a:ext>
            </a:extLst>
          </p:cNvPr>
          <p:cNvSpPr/>
          <p:nvPr/>
        </p:nvSpPr>
        <p:spPr>
          <a:xfrm>
            <a:off x="838200" y="4505684"/>
            <a:ext cx="7226508" cy="1325563"/>
          </a:xfrm>
          <a:prstGeom prst="roundRect">
            <a:avLst/>
          </a:prstGeom>
          <a:solidFill>
            <a:srgbClr val="3B3B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8B75202-53C7-81B9-AF55-7A48F60EB8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lnSpcReduction="10000"/>
          </a:bodyPr>
          <a:lstStyle/>
          <a:p>
            <a:pPr>
              <a:buFontTx/>
              <a:buChar char="-"/>
            </a:pP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Язык программирования</a:t>
            </a:r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: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 C++</a:t>
            </a:r>
          </a:p>
          <a:p>
            <a:pPr marL="0" indent="0">
              <a:buNone/>
            </a:pPr>
            <a:r>
              <a:rPr lang="ru-RU" sz="20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Мощный и универсальный язык программирования, </a:t>
            </a:r>
          </a:p>
          <a:p>
            <a:pPr marL="0" indent="0">
              <a:buNone/>
            </a:pPr>
            <a:r>
              <a:rPr lang="ru-RU" sz="20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обеспечивающий высокую производительность</a:t>
            </a:r>
          </a:p>
          <a:p>
            <a:pPr marL="0" indent="0">
              <a:buNone/>
            </a:pPr>
            <a:endParaRPr lang="ru-RU" sz="200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endParaRPr>
          </a:p>
          <a:p>
            <a:pPr>
              <a:buFontTx/>
              <a:buChar char="-"/>
            </a:pP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Среда разработки</a:t>
            </a:r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: 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Visual Studio Code</a:t>
            </a:r>
          </a:p>
          <a:p>
            <a:pPr marL="0" indent="0">
              <a:buNone/>
            </a:pPr>
            <a:r>
              <a:rPr lang="ru-RU" sz="20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Гибкий и функциональный редактор кода со множествами плагинов,</a:t>
            </a:r>
          </a:p>
          <a:p>
            <a:pPr marL="0" indent="0">
              <a:buNone/>
            </a:pPr>
            <a:r>
              <a:rPr lang="ru-RU" sz="20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подходящий для разработки на любых языках программирования</a:t>
            </a:r>
          </a:p>
          <a:p>
            <a:pPr marL="0" indent="0">
              <a:buNone/>
            </a:pPr>
            <a:endParaRPr lang="ru-RU" sz="200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endParaRPr>
          </a:p>
          <a:p>
            <a:pPr>
              <a:buFontTx/>
              <a:buChar char="-"/>
            </a:pP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Библиотеки: 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Qt </a:t>
            </a:r>
            <a:r>
              <a:rPr lang="ru-RU" sz="20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и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Boost.asio</a:t>
            </a:r>
            <a:endParaRPr lang="en-US" sz="2000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endParaRPr>
          </a:p>
          <a:p>
            <a:pPr marL="0" indent="0">
              <a:buNone/>
            </a:pPr>
            <a:r>
              <a:rPr lang="ru-RU" sz="20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Популярные и хорошо документированные библиотеки для</a:t>
            </a:r>
          </a:p>
          <a:p>
            <a:pPr marL="0" indent="0">
              <a:buNone/>
            </a:pPr>
            <a:r>
              <a:rPr lang="ru-RU" sz="20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разработки </a:t>
            </a:r>
            <a:r>
              <a:rPr lang="en-US" sz="2000" dirty="0" err="1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gui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 </a:t>
            </a:r>
            <a:r>
              <a:rPr lang="ru-RU" sz="2000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и сетевых приложений соответственно</a:t>
            </a:r>
          </a:p>
        </p:txBody>
      </p:sp>
    </p:spTree>
    <p:extLst>
      <p:ext uri="{BB962C8B-B14F-4D97-AF65-F5344CB8AC3E}">
        <p14:creationId xmlns:p14="http://schemas.microsoft.com/office/powerpoint/2010/main" val="10121243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A69B3E1-9F18-F2AB-A0A4-C0EEDE06B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FFCC00"/>
                </a:solidFill>
                <a:latin typeface="Bahnschrift" panose="020B0502040204020203" pitchFamily="34" charset="0"/>
              </a:rPr>
              <a:t>Архитектура 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D328959C-F48F-2933-D229-056AAE7267C8}"/>
              </a:ext>
            </a:extLst>
          </p:cNvPr>
          <p:cNvSpPr/>
          <p:nvPr/>
        </p:nvSpPr>
        <p:spPr>
          <a:xfrm>
            <a:off x="838200" y="1749049"/>
            <a:ext cx="5076669" cy="124722"/>
          </a:xfrm>
          <a:prstGeom prst="roundRect">
            <a:avLst/>
          </a:prstGeom>
          <a:solidFill>
            <a:srgbClr val="FFCC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012514B9-DF7D-AED6-CC06-72A1D3A3B1C1}"/>
              </a:ext>
            </a:extLst>
          </p:cNvPr>
          <p:cNvSpPr/>
          <p:nvPr/>
        </p:nvSpPr>
        <p:spPr>
          <a:xfrm>
            <a:off x="6569438" y="1749049"/>
            <a:ext cx="5076669" cy="124722"/>
          </a:xfrm>
          <a:prstGeom prst="roundRect">
            <a:avLst/>
          </a:prstGeom>
          <a:solidFill>
            <a:srgbClr val="FFCC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903296D1-AB1C-7897-969D-56D4E3279FBA}"/>
              </a:ext>
            </a:extLst>
          </p:cNvPr>
          <p:cNvSpPr/>
          <p:nvPr/>
        </p:nvSpPr>
        <p:spPr>
          <a:xfrm>
            <a:off x="6569437" y="4009869"/>
            <a:ext cx="5076669" cy="124722"/>
          </a:xfrm>
          <a:prstGeom prst="roundRect">
            <a:avLst/>
          </a:prstGeom>
          <a:solidFill>
            <a:srgbClr val="FFCC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526F9748-A557-F037-26BD-4D17B8BFF742}"/>
              </a:ext>
            </a:extLst>
          </p:cNvPr>
          <p:cNvSpPr/>
          <p:nvPr/>
        </p:nvSpPr>
        <p:spPr>
          <a:xfrm>
            <a:off x="838199" y="4009869"/>
            <a:ext cx="5076669" cy="124722"/>
          </a:xfrm>
          <a:prstGeom prst="roundRect">
            <a:avLst/>
          </a:prstGeom>
          <a:solidFill>
            <a:srgbClr val="FFCC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7C8C30-C2A3-03AE-6308-3B2C9B6BEC0B}"/>
              </a:ext>
            </a:extLst>
          </p:cNvPr>
          <p:cNvSpPr txBox="1"/>
          <p:nvPr/>
        </p:nvSpPr>
        <p:spPr>
          <a:xfrm>
            <a:off x="708974" y="2112406"/>
            <a:ext cx="5335115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TCP </a:t>
            </a:r>
            <a:r>
              <a:rPr lang="ru-RU" sz="2400" b="1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протокол</a:t>
            </a:r>
          </a:p>
          <a:p>
            <a:pPr algn="ctr"/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Ключевая технология в клиент-серверном </a:t>
            </a:r>
          </a:p>
          <a:p>
            <a:pPr algn="ctr"/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Взаимодействии, надёжный протокол передачи</a:t>
            </a:r>
          </a:p>
          <a:p>
            <a:pPr algn="ctr"/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Данных.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3F8FF0-6C29-45AC-A5C7-56E773651617}"/>
              </a:ext>
            </a:extLst>
          </p:cNvPr>
          <p:cNvSpPr txBox="1"/>
          <p:nvPr/>
        </p:nvSpPr>
        <p:spPr>
          <a:xfrm>
            <a:off x="6909092" y="2136338"/>
            <a:ext cx="4397358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Сервер</a:t>
            </a:r>
          </a:p>
          <a:p>
            <a:pPr algn="ctr"/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Главная часть мессенджера, которая</a:t>
            </a:r>
          </a:p>
          <a:p>
            <a:pPr algn="ctr"/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 хранит информацию о пользователях, </a:t>
            </a:r>
          </a:p>
          <a:p>
            <a:pPr algn="ctr"/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Принимает и отправляет сообщения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DF6626-EF2D-0CF0-FFFB-E6DACF479167}"/>
              </a:ext>
            </a:extLst>
          </p:cNvPr>
          <p:cNvSpPr txBox="1"/>
          <p:nvPr/>
        </p:nvSpPr>
        <p:spPr>
          <a:xfrm>
            <a:off x="661768" y="4327645"/>
            <a:ext cx="5642890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Клиент</a:t>
            </a:r>
          </a:p>
          <a:p>
            <a:pPr algn="ctr"/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Пользовательская часть мессенджера, у которой</a:t>
            </a:r>
          </a:p>
          <a:p>
            <a:pPr algn="ctr"/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Присутствует графический интерфейс. Принимает </a:t>
            </a:r>
          </a:p>
          <a:p>
            <a:pPr algn="ctr"/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И отправляет сообщения серверу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2B7451-C42F-6D31-F099-C424FB24663A}"/>
              </a:ext>
            </a:extLst>
          </p:cNvPr>
          <p:cNvSpPr txBox="1"/>
          <p:nvPr/>
        </p:nvSpPr>
        <p:spPr>
          <a:xfrm>
            <a:off x="6671049" y="4272436"/>
            <a:ext cx="4873449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b="1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Основные функции</a:t>
            </a:r>
          </a:p>
          <a:p>
            <a:pPr algn="ctr"/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Регистрация, вход, чтение и отправка </a:t>
            </a:r>
          </a:p>
          <a:p>
            <a:pPr algn="ctr"/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сообщения – это четыре базовые функции, </a:t>
            </a:r>
          </a:p>
          <a:p>
            <a:pPr algn="ctr"/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на которых работает весь мессенджер </a:t>
            </a:r>
          </a:p>
        </p:txBody>
      </p:sp>
    </p:spTree>
    <p:extLst>
      <p:ext uri="{BB962C8B-B14F-4D97-AF65-F5344CB8AC3E}">
        <p14:creationId xmlns:p14="http://schemas.microsoft.com/office/powerpoint/2010/main" val="3497023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827A21-A8B0-D598-F956-3EBB57E64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FFCC00"/>
                </a:solidFill>
                <a:latin typeface="Bahnschrift" panose="020B0502040204020203" pitchFamily="34" charset="0"/>
              </a:rPr>
              <a:t>Основные этапы разработки</a:t>
            </a:r>
          </a:p>
        </p:txBody>
      </p: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8FB34CC4-0A17-077F-2C30-489090A47F7B}"/>
              </a:ext>
            </a:extLst>
          </p:cNvPr>
          <p:cNvGrpSpPr/>
          <p:nvPr/>
        </p:nvGrpSpPr>
        <p:grpSpPr>
          <a:xfrm>
            <a:off x="1266669" y="1489921"/>
            <a:ext cx="4294682" cy="539646"/>
            <a:chOff x="1266669" y="1489921"/>
            <a:chExt cx="4294682" cy="539646"/>
          </a:xfrm>
        </p:grpSpPr>
        <p:sp>
          <p:nvSpPr>
            <p:cNvPr id="4" name="Прямоугольник: скругленные углы 3">
              <a:extLst>
                <a:ext uri="{FF2B5EF4-FFF2-40B4-BE49-F238E27FC236}">
                  <a16:creationId xmlns:a16="http://schemas.microsoft.com/office/drawing/2014/main" id="{FD57722A-0D78-2191-BF84-A511AB4C63A5}"/>
                </a:ext>
              </a:extLst>
            </p:cNvPr>
            <p:cNvSpPr/>
            <p:nvPr/>
          </p:nvSpPr>
          <p:spPr>
            <a:xfrm>
              <a:off x="1708879" y="1690688"/>
              <a:ext cx="3852472" cy="138112"/>
            </a:xfrm>
            <a:prstGeom prst="roundRect">
              <a:avLst/>
            </a:prstGeom>
            <a:solidFill>
              <a:srgbClr val="3B3B3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5" name="Овал 4">
              <a:extLst>
                <a:ext uri="{FF2B5EF4-FFF2-40B4-BE49-F238E27FC236}">
                  <a16:creationId xmlns:a16="http://schemas.microsoft.com/office/drawing/2014/main" id="{6B9E5E42-5AA0-F4DE-E232-6EF045AF73FC}"/>
                </a:ext>
              </a:extLst>
            </p:cNvPr>
            <p:cNvSpPr/>
            <p:nvPr/>
          </p:nvSpPr>
          <p:spPr>
            <a:xfrm>
              <a:off x="1266669" y="1489921"/>
              <a:ext cx="539646" cy="539646"/>
            </a:xfrm>
            <a:prstGeom prst="ellipse">
              <a:avLst/>
            </a:prstGeom>
            <a:solidFill>
              <a:srgbClr val="3B3B3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400" b="1" dirty="0">
                  <a:solidFill>
                    <a:schemeClr val="bg1">
                      <a:lumMod val="95000"/>
                    </a:schemeClr>
                  </a:solidFill>
                  <a:latin typeface="Bahnschrift" panose="020B0502040204020203" pitchFamily="34" charset="0"/>
                </a:rPr>
                <a:t>1</a:t>
              </a:r>
            </a:p>
          </p:txBody>
        </p:sp>
      </p:grp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49906571-DB96-ED54-E5D8-F8E048DE8D3F}"/>
              </a:ext>
            </a:extLst>
          </p:cNvPr>
          <p:cNvGrpSpPr/>
          <p:nvPr/>
        </p:nvGrpSpPr>
        <p:grpSpPr>
          <a:xfrm>
            <a:off x="7059118" y="1489921"/>
            <a:ext cx="4294682" cy="539646"/>
            <a:chOff x="1266669" y="1489921"/>
            <a:chExt cx="4294682" cy="539646"/>
          </a:xfrm>
        </p:grpSpPr>
        <p:sp>
          <p:nvSpPr>
            <p:cNvPr id="8" name="Прямоугольник: скругленные углы 7">
              <a:extLst>
                <a:ext uri="{FF2B5EF4-FFF2-40B4-BE49-F238E27FC236}">
                  <a16:creationId xmlns:a16="http://schemas.microsoft.com/office/drawing/2014/main" id="{5CBB67BB-AF85-9E3E-A5AF-67C2CE3A36D9}"/>
                </a:ext>
              </a:extLst>
            </p:cNvPr>
            <p:cNvSpPr/>
            <p:nvPr/>
          </p:nvSpPr>
          <p:spPr>
            <a:xfrm>
              <a:off x="1708879" y="1690688"/>
              <a:ext cx="3852472" cy="138112"/>
            </a:xfrm>
            <a:prstGeom prst="roundRect">
              <a:avLst/>
            </a:prstGeom>
            <a:solidFill>
              <a:srgbClr val="3B3B3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9" name="Овал 8">
              <a:extLst>
                <a:ext uri="{FF2B5EF4-FFF2-40B4-BE49-F238E27FC236}">
                  <a16:creationId xmlns:a16="http://schemas.microsoft.com/office/drawing/2014/main" id="{D515BEF9-79AB-C14D-D4EF-73080781F850}"/>
                </a:ext>
              </a:extLst>
            </p:cNvPr>
            <p:cNvSpPr/>
            <p:nvPr/>
          </p:nvSpPr>
          <p:spPr>
            <a:xfrm>
              <a:off x="1266669" y="1489921"/>
              <a:ext cx="539646" cy="539646"/>
            </a:xfrm>
            <a:prstGeom prst="ellipse">
              <a:avLst/>
            </a:prstGeom>
            <a:solidFill>
              <a:srgbClr val="3B3B3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400" dirty="0">
                  <a:solidFill>
                    <a:schemeClr val="bg1">
                      <a:lumMod val="95000"/>
                    </a:schemeClr>
                  </a:solidFill>
                  <a:latin typeface="Bahnschrift" panose="020B0502040204020203" pitchFamily="34" charset="0"/>
                </a:rPr>
                <a:t>2</a:t>
              </a:r>
            </a:p>
          </p:txBody>
        </p:sp>
      </p:grp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1B2D23FD-5F8E-27CD-474F-ED0A63DD7B25}"/>
              </a:ext>
            </a:extLst>
          </p:cNvPr>
          <p:cNvGrpSpPr/>
          <p:nvPr/>
        </p:nvGrpSpPr>
        <p:grpSpPr>
          <a:xfrm>
            <a:off x="1266669" y="3676884"/>
            <a:ext cx="4294682" cy="539646"/>
            <a:chOff x="1266669" y="1489921"/>
            <a:chExt cx="4294682" cy="539646"/>
          </a:xfrm>
        </p:grpSpPr>
        <p:sp>
          <p:nvSpPr>
            <p:cNvPr id="11" name="Прямоугольник: скругленные углы 10">
              <a:extLst>
                <a:ext uri="{FF2B5EF4-FFF2-40B4-BE49-F238E27FC236}">
                  <a16:creationId xmlns:a16="http://schemas.microsoft.com/office/drawing/2014/main" id="{323F4591-B48D-3ED2-5754-9B1BFB19A723}"/>
                </a:ext>
              </a:extLst>
            </p:cNvPr>
            <p:cNvSpPr/>
            <p:nvPr/>
          </p:nvSpPr>
          <p:spPr>
            <a:xfrm>
              <a:off x="1708879" y="1690688"/>
              <a:ext cx="3852472" cy="138112"/>
            </a:xfrm>
            <a:prstGeom prst="roundRect">
              <a:avLst/>
            </a:prstGeom>
            <a:solidFill>
              <a:srgbClr val="3B3B3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2" name="Овал 11">
              <a:extLst>
                <a:ext uri="{FF2B5EF4-FFF2-40B4-BE49-F238E27FC236}">
                  <a16:creationId xmlns:a16="http://schemas.microsoft.com/office/drawing/2014/main" id="{EE1DF5B0-57B2-18AC-7A37-33980B6BD79D}"/>
                </a:ext>
              </a:extLst>
            </p:cNvPr>
            <p:cNvSpPr/>
            <p:nvPr/>
          </p:nvSpPr>
          <p:spPr>
            <a:xfrm>
              <a:off x="1266669" y="1489921"/>
              <a:ext cx="539646" cy="539646"/>
            </a:xfrm>
            <a:prstGeom prst="ellipse">
              <a:avLst/>
            </a:prstGeom>
            <a:solidFill>
              <a:srgbClr val="3B3B3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400" dirty="0">
                  <a:solidFill>
                    <a:schemeClr val="bg1">
                      <a:lumMod val="95000"/>
                    </a:schemeClr>
                  </a:solidFill>
                  <a:latin typeface="Bahnschrift" panose="020B0502040204020203" pitchFamily="34" charset="0"/>
                </a:rPr>
                <a:t>3</a:t>
              </a:r>
            </a:p>
          </p:txBody>
        </p:sp>
      </p:grp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612D84A4-6A55-C646-948E-8F9573EB2E3D}"/>
              </a:ext>
            </a:extLst>
          </p:cNvPr>
          <p:cNvGrpSpPr/>
          <p:nvPr/>
        </p:nvGrpSpPr>
        <p:grpSpPr>
          <a:xfrm>
            <a:off x="7059118" y="3745940"/>
            <a:ext cx="4294682" cy="539646"/>
            <a:chOff x="1266669" y="1489921"/>
            <a:chExt cx="4294682" cy="539646"/>
          </a:xfrm>
        </p:grpSpPr>
        <p:sp>
          <p:nvSpPr>
            <p:cNvPr id="14" name="Прямоугольник: скругленные углы 13">
              <a:extLst>
                <a:ext uri="{FF2B5EF4-FFF2-40B4-BE49-F238E27FC236}">
                  <a16:creationId xmlns:a16="http://schemas.microsoft.com/office/drawing/2014/main" id="{319D4488-7ADA-BF07-A379-071840F82E9E}"/>
                </a:ext>
              </a:extLst>
            </p:cNvPr>
            <p:cNvSpPr/>
            <p:nvPr/>
          </p:nvSpPr>
          <p:spPr>
            <a:xfrm>
              <a:off x="1708879" y="1690688"/>
              <a:ext cx="3852472" cy="138112"/>
            </a:xfrm>
            <a:prstGeom prst="roundRect">
              <a:avLst/>
            </a:prstGeom>
            <a:solidFill>
              <a:srgbClr val="3B3B3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Овал 14">
              <a:extLst>
                <a:ext uri="{FF2B5EF4-FFF2-40B4-BE49-F238E27FC236}">
                  <a16:creationId xmlns:a16="http://schemas.microsoft.com/office/drawing/2014/main" id="{55E6E4AC-04AD-31BC-BB36-4E8D51BC410C}"/>
                </a:ext>
              </a:extLst>
            </p:cNvPr>
            <p:cNvSpPr/>
            <p:nvPr/>
          </p:nvSpPr>
          <p:spPr>
            <a:xfrm>
              <a:off x="1266669" y="1489921"/>
              <a:ext cx="539646" cy="539646"/>
            </a:xfrm>
            <a:prstGeom prst="ellipse">
              <a:avLst/>
            </a:prstGeom>
            <a:solidFill>
              <a:srgbClr val="3B3B3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2400" dirty="0">
                  <a:solidFill>
                    <a:schemeClr val="bg1">
                      <a:lumMod val="95000"/>
                    </a:schemeClr>
                  </a:solidFill>
                  <a:latin typeface="Bahnschrift" panose="020B0502040204020203" pitchFamily="34" charset="0"/>
                </a:rPr>
                <a:t>4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53D6EBB4-5441-373E-FBCE-A0C95F884E5E}"/>
              </a:ext>
            </a:extLst>
          </p:cNvPr>
          <p:cNvSpPr txBox="1"/>
          <p:nvPr/>
        </p:nvSpPr>
        <p:spPr>
          <a:xfrm>
            <a:off x="1806315" y="1955905"/>
            <a:ext cx="4269117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Создание проекта </a:t>
            </a:r>
            <a:r>
              <a:rPr lang="en-US" sz="2000" b="1" dirty="0" err="1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CMake</a:t>
            </a:r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 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и </a:t>
            </a:r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git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  <a:ea typeface="Raleway Medium" pitchFamily="34" charset="-122"/>
                <a:cs typeface="Raleway Medium" pitchFamily="34" charset="-120"/>
              </a:rPr>
              <a:t>И</a:t>
            </a:r>
            <a:r>
              <a:rPr lang="ru-RU" dirty="0" err="1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  <a:ea typeface="Raleway Medium" pitchFamily="34" charset="-122"/>
                <a:cs typeface="Raleway Medium" pitchFamily="34" charset="-120"/>
              </a:rPr>
              <a:t>нициализация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  <a:ea typeface="Raleway Medium" pitchFamily="34" charset="-122"/>
                <a:cs typeface="Raleway Medium" pitchFamily="34" charset="-120"/>
              </a:rPr>
              <a:t> проекта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  <a:ea typeface="Raleway Medium" pitchFamily="34" charset="-122"/>
                <a:cs typeface="Raleway Medium" pitchFamily="34" charset="-120"/>
              </a:rPr>
              <a:t>git, 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  <a:ea typeface="Raleway Medium" pitchFamily="34" charset="-122"/>
                <a:cs typeface="Raleway Medium" pitchFamily="34" charset="-120"/>
              </a:rPr>
              <a:t>создание</a:t>
            </a:r>
            <a:endParaRPr lang="en-US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  <a:ea typeface="Raleway Medium" pitchFamily="34" charset="-122"/>
              <a:cs typeface="Raleway Medium" pitchFamily="34" charset="-120"/>
            </a:endParaRP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  <a:ea typeface="Raleway Medium" pitchFamily="34" charset="-122"/>
                <a:cs typeface="Raleway Medium" pitchFamily="34" charset="-120"/>
              </a:rPr>
              <a:t>CMakeLists.txt, 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  <a:ea typeface="Raleway Medium" pitchFamily="34" charset="-122"/>
                <a:cs typeface="Raleway Medium" pitchFamily="34" charset="-120"/>
              </a:rPr>
              <a:t>добавление в 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  <a:ea typeface="Raleway Medium" pitchFamily="34" charset="-122"/>
                <a:cs typeface="Raleway Medium" pitchFamily="34" charset="-120"/>
              </a:rPr>
              <a:t>CMakeLists.txt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  <a:ea typeface="Raleway Medium" pitchFamily="34" charset="-122"/>
                <a:cs typeface="Raleway Medium" pitchFamily="34" charset="-120"/>
              </a:rPr>
              <a:t> 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нужных модулей и т.д.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ADF08A-7B41-0082-80E2-81303B577BD2}"/>
              </a:ext>
            </a:extLst>
          </p:cNvPr>
          <p:cNvSpPr txBox="1"/>
          <p:nvPr/>
        </p:nvSpPr>
        <p:spPr>
          <a:xfrm>
            <a:off x="7598764" y="1955905"/>
            <a:ext cx="4312399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Разработка </a:t>
            </a:r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“</a:t>
            </a:r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Фундамента</a:t>
            </a:r>
            <a:r>
              <a:rPr lang="en-US" sz="2000" b="1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”</a:t>
            </a:r>
          </a:p>
          <a:p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  <a:ea typeface="Raleway Medium" pitchFamily="34" charset="-122"/>
                <a:cs typeface="Raleway Medium" pitchFamily="34" charset="-120"/>
              </a:rPr>
              <a:t>Разработка базы данных, класса </a:t>
            </a:r>
            <a:endParaRPr lang="en-US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  <a:ea typeface="Raleway Medium" pitchFamily="34" charset="-122"/>
              <a:cs typeface="Raleway Medium" pitchFamily="34" charset="-120"/>
            </a:endParaRP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  <a:ea typeface="Raleway Medium" pitchFamily="34" charset="-122"/>
                <a:cs typeface="Raleway Medium" pitchFamily="34" charset="-120"/>
              </a:rPr>
              <a:t>Message, 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  <a:ea typeface="Raleway Medium" pitchFamily="34" charset="-122"/>
                <a:cs typeface="Raleway Medium" pitchFamily="34" charset="-120"/>
              </a:rPr>
              <a:t>методов отправки и</a:t>
            </a:r>
          </a:p>
          <a:p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  <a:ea typeface="Raleway Medium" pitchFamily="34" charset="-122"/>
                <a:cs typeface="Raleway Medium" pitchFamily="34" charset="-120"/>
              </a:rPr>
              <a:t>Чтения – всего того, что используется </a:t>
            </a:r>
          </a:p>
          <a:p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  <a:ea typeface="Raleway Medium" pitchFamily="34" charset="-122"/>
                <a:cs typeface="Raleway Medium" pitchFamily="34" charset="-120"/>
              </a:rPr>
              <a:t>И в клиенте, и в сервере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15C1F2-9035-5E81-8A28-3B1BE3E4006B}"/>
              </a:ext>
            </a:extLst>
          </p:cNvPr>
          <p:cNvSpPr txBox="1"/>
          <p:nvPr/>
        </p:nvSpPr>
        <p:spPr>
          <a:xfrm>
            <a:off x="1806314" y="4090850"/>
            <a:ext cx="4769254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Разработка клиента</a:t>
            </a:r>
          </a:p>
          <a:p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Разработка </a:t>
            </a:r>
            <a:r>
              <a:rPr lang="en-US" dirty="0" err="1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gui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, 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класса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client, main</a:t>
            </a:r>
          </a:p>
          <a:p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Файла клиента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 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и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 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методов взаимодействия</a:t>
            </a:r>
          </a:p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Gui 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с сетевой частью клиента</a:t>
            </a:r>
            <a:endParaRPr lang="en-US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8109EB-F9D3-81E0-30A4-994844C2FE8A}"/>
              </a:ext>
            </a:extLst>
          </p:cNvPr>
          <p:cNvSpPr txBox="1"/>
          <p:nvPr/>
        </p:nvSpPr>
        <p:spPr>
          <a:xfrm>
            <a:off x="7559254" y="4136973"/>
            <a:ext cx="4692310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Разработка сервера</a:t>
            </a:r>
            <a:endParaRPr lang="en-US" sz="2000" b="1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endParaRPr>
          </a:p>
          <a:p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  <a:ea typeface="Raleway Medium" pitchFamily="34" charset="-122"/>
                <a:cs typeface="Raleway Medium" pitchFamily="34" charset="-120"/>
              </a:rPr>
              <a:t>Разработка методов для входа и </a:t>
            </a:r>
            <a:r>
              <a:rPr lang="ru-RU" dirty="0" err="1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  <a:ea typeface="Raleway Medium" pitchFamily="34" charset="-122"/>
                <a:cs typeface="Raleway Medium" pitchFamily="34" charset="-120"/>
              </a:rPr>
              <a:t>регист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  <a:ea typeface="Raleway Medium" pitchFamily="34" charset="-122"/>
                <a:cs typeface="Raleway Medium" pitchFamily="34" charset="-120"/>
              </a:rPr>
              <a:t>-</a:t>
            </a:r>
          </a:p>
          <a:p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  <a:ea typeface="Raleway Medium" pitchFamily="34" charset="-122"/>
                <a:cs typeface="Raleway Medium" pitchFamily="34" charset="-120"/>
              </a:rPr>
              <a:t>рации клиента, добавления сообщений в </a:t>
            </a:r>
          </a:p>
          <a:p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  <a:ea typeface="Raleway Medium" pitchFamily="34" charset="-122"/>
                <a:cs typeface="Raleway Medium" pitchFamily="34" charset="-120"/>
              </a:rPr>
              <a:t>Очередь и их получение</a:t>
            </a:r>
            <a:endParaRPr lang="ru-RU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2409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8A85E9-E8F2-01D0-68EE-43E9085FC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dirty="0">
                <a:solidFill>
                  <a:srgbClr val="FFCC00"/>
                </a:solidFill>
                <a:latin typeface="Bahnschrift" panose="020B0502040204020203" pitchFamily="34" charset="0"/>
              </a:rPr>
              <a:t>Демонстрация кода</a:t>
            </a:r>
            <a:r>
              <a:rPr lang="en-US" b="1" dirty="0">
                <a:solidFill>
                  <a:srgbClr val="FFCC00"/>
                </a:solidFill>
                <a:latin typeface="Bahnschrift" panose="020B0502040204020203" pitchFamily="34" charset="0"/>
              </a:rPr>
              <a:t>: </a:t>
            </a:r>
            <a:r>
              <a:rPr lang="ru-RU" b="1" dirty="0">
                <a:solidFill>
                  <a:srgbClr val="FFCC00"/>
                </a:solidFill>
                <a:latin typeface="Bahnschrift" panose="020B0502040204020203" pitchFamily="34" charset="0"/>
              </a:rPr>
              <a:t>регистрация пользователя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E8B47F-AF7A-8F88-C7E3-4A303505B365}"/>
              </a:ext>
            </a:extLst>
          </p:cNvPr>
          <p:cNvSpPr txBox="1"/>
          <p:nvPr/>
        </p:nvSpPr>
        <p:spPr>
          <a:xfrm>
            <a:off x="304800" y="2967335"/>
            <a:ext cx="48463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Пользователь вводит имя и пароль, после </a:t>
            </a:r>
          </a:p>
          <a:p>
            <a:pPr algn="ctr"/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чего они сохраняются в файл, передаваемый на сервер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F34B5A2-377F-8553-3245-4201E0E578D1}"/>
              </a:ext>
            </a:extLst>
          </p:cNvPr>
          <p:cNvSpPr/>
          <p:nvPr/>
        </p:nvSpPr>
        <p:spPr>
          <a:xfrm>
            <a:off x="5471160" y="1690688"/>
            <a:ext cx="6416040" cy="5045392"/>
          </a:xfrm>
          <a:prstGeom prst="rect">
            <a:avLst/>
          </a:prstGeom>
          <a:solidFill>
            <a:srgbClr val="3B3B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700" i="1" dirty="0">
                <a:solidFill>
                  <a:srgbClr val="D7D4CC"/>
                </a:solidFill>
                <a:latin typeface="Bahnschrift" panose="020B0502040204020203" pitchFamily="34" charset="0"/>
                <a:ea typeface="Consolas Medium" pitchFamily="34" charset="-122"/>
                <a:cs typeface="Consolas Medium" pitchFamily="34" charset="-120"/>
              </a:rPr>
              <a:t>Q_INVOKABLE bool User::</a:t>
            </a:r>
            <a:r>
              <a:rPr lang="en-US" sz="1700" i="1" dirty="0" err="1">
                <a:solidFill>
                  <a:srgbClr val="D7D4CC"/>
                </a:solidFill>
                <a:latin typeface="Bahnschrift" panose="020B0502040204020203" pitchFamily="34" charset="0"/>
                <a:ea typeface="Consolas Medium" pitchFamily="34" charset="-122"/>
                <a:cs typeface="Consolas Medium" pitchFamily="34" charset="-120"/>
              </a:rPr>
              <a:t>regUser</a:t>
            </a:r>
            <a:r>
              <a:rPr lang="en-US" sz="1700" i="1" dirty="0">
                <a:solidFill>
                  <a:srgbClr val="D7D4CC"/>
                </a:solidFill>
                <a:latin typeface="Bahnschrift" panose="020B0502040204020203" pitchFamily="34" charset="0"/>
                <a:ea typeface="Consolas Medium" pitchFamily="34" charset="-122"/>
                <a:cs typeface="Consolas Medium" pitchFamily="34" charset="-120"/>
              </a:rPr>
              <a:t>(const </a:t>
            </a:r>
            <a:r>
              <a:rPr lang="en-US" sz="1700" i="1" dirty="0" err="1">
                <a:solidFill>
                  <a:srgbClr val="D7D4CC"/>
                </a:solidFill>
                <a:latin typeface="Bahnschrift" panose="020B0502040204020203" pitchFamily="34" charset="0"/>
                <a:ea typeface="Consolas Medium" pitchFamily="34" charset="-122"/>
                <a:cs typeface="Consolas Medium" pitchFamily="34" charset="-120"/>
              </a:rPr>
              <a:t>QString</a:t>
            </a:r>
            <a:r>
              <a:rPr lang="en-US" sz="1700" i="1" dirty="0">
                <a:solidFill>
                  <a:srgbClr val="D7D4CC"/>
                </a:solidFill>
                <a:latin typeface="Bahnschrift" panose="020B0502040204020203" pitchFamily="34" charset="0"/>
                <a:ea typeface="Consolas Medium" pitchFamily="34" charset="-122"/>
                <a:cs typeface="Consolas Medium" pitchFamily="34" charset="-120"/>
              </a:rPr>
              <a:t> password, </a:t>
            </a:r>
            <a:endParaRPr lang="ru-RU" sz="1700" i="1" dirty="0">
              <a:solidFill>
                <a:srgbClr val="D7D4CC"/>
              </a:solidFill>
              <a:latin typeface="Bahnschrift" panose="020B0502040204020203" pitchFamily="34" charset="0"/>
              <a:ea typeface="Consolas Medium" pitchFamily="34" charset="-122"/>
              <a:cs typeface="Consolas Medium" pitchFamily="34" charset="-120"/>
            </a:endParaRPr>
          </a:p>
          <a:p>
            <a:r>
              <a:rPr lang="ru-RU" sz="1700" i="1" dirty="0">
                <a:solidFill>
                  <a:srgbClr val="D7D4CC"/>
                </a:solidFill>
                <a:latin typeface="Bahnschrift" panose="020B0502040204020203" pitchFamily="34" charset="0"/>
                <a:ea typeface="Consolas Medium" pitchFamily="34" charset="-122"/>
                <a:cs typeface="Consolas Medium" pitchFamily="34" charset="-120"/>
              </a:rPr>
              <a:t>				</a:t>
            </a:r>
            <a:r>
              <a:rPr lang="en-US" sz="1700" i="1" dirty="0">
                <a:solidFill>
                  <a:srgbClr val="D7D4CC"/>
                </a:solidFill>
                <a:latin typeface="Bahnschrift" panose="020B0502040204020203" pitchFamily="34" charset="0"/>
                <a:ea typeface="Consolas Medium" pitchFamily="34" charset="-122"/>
                <a:cs typeface="Consolas Medium" pitchFamily="34" charset="-120"/>
              </a:rPr>
              <a:t>const </a:t>
            </a:r>
            <a:r>
              <a:rPr lang="en-US" sz="1700" i="1" dirty="0" err="1">
                <a:solidFill>
                  <a:srgbClr val="D7D4CC"/>
                </a:solidFill>
                <a:latin typeface="Bahnschrift" panose="020B0502040204020203" pitchFamily="34" charset="0"/>
                <a:ea typeface="Consolas Medium" pitchFamily="34" charset="-122"/>
                <a:cs typeface="Consolas Medium" pitchFamily="34" charset="-120"/>
              </a:rPr>
              <a:t>QString</a:t>
            </a:r>
            <a:r>
              <a:rPr lang="en-US" sz="1700" i="1" dirty="0">
                <a:solidFill>
                  <a:srgbClr val="D7D4CC"/>
                </a:solidFill>
                <a:latin typeface="Bahnschrift" panose="020B0502040204020203" pitchFamily="34" charset="0"/>
                <a:ea typeface="Consolas Medium" pitchFamily="34" charset="-122"/>
                <a:cs typeface="Consolas Medium" pitchFamily="34" charset="-120"/>
              </a:rPr>
              <a:t> name) {
    YAML::Node config;
    config["password"] = sha256::hash(</a:t>
            </a:r>
            <a:r>
              <a:rPr lang="en-US" sz="1700" i="1" dirty="0" err="1">
                <a:solidFill>
                  <a:srgbClr val="D7D4CC"/>
                </a:solidFill>
                <a:latin typeface="Bahnschrift" panose="020B0502040204020203" pitchFamily="34" charset="0"/>
                <a:ea typeface="Consolas Medium" pitchFamily="34" charset="-122"/>
                <a:cs typeface="Consolas Medium" pitchFamily="34" charset="-120"/>
              </a:rPr>
              <a:t>password.toStdString</a:t>
            </a:r>
            <a:r>
              <a:rPr lang="en-US" sz="1700" i="1" dirty="0">
                <a:solidFill>
                  <a:srgbClr val="D7D4CC"/>
                </a:solidFill>
                <a:latin typeface="Bahnschrift" panose="020B0502040204020203" pitchFamily="34" charset="0"/>
                <a:ea typeface="Consolas Medium" pitchFamily="34" charset="-122"/>
                <a:cs typeface="Consolas Medium" pitchFamily="34" charset="-120"/>
              </a:rPr>
              <a:t>());
    config["name"] = </a:t>
            </a:r>
            <a:r>
              <a:rPr lang="en-US" sz="1700" i="1" dirty="0" err="1">
                <a:solidFill>
                  <a:srgbClr val="D7D4CC"/>
                </a:solidFill>
                <a:latin typeface="Bahnschrift" panose="020B0502040204020203" pitchFamily="34" charset="0"/>
                <a:ea typeface="Consolas Medium" pitchFamily="34" charset="-122"/>
                <a:cs typeface="Consolas Medium" pitchFamily="34" charset="-120"/>
              </a:rPr>
              <a:t>name.toStdString</a:t>
            </a:r>
            <a:r>
              <a:rPr lang="en-US" sz="1700" i="1" dirty="0">
                <a:solidFill>
                  <a:srgbClr val="D7D4CC"/>
                </a:solidFill>
                <a:latin typeface="Bahnschrift" panose="020B0502040204020203" pitchFamily="34" charset="0"/>
                <a:ea typeface="Consolas Medium" pitchFamily="34" charset="-122"/>
                <a:cs typeface="Consolas Medium" pitchFamily="34" charset="-120"/>
              </a:rPr>
              <a:t>();
    std::</a:t>
            </a:r>
            <a:r>
              <a:rPr lang="en-US" sz="1700" i="1" dirty="0" err="1">
                <a:solidFill>
                  <a:srgbClr val="D7D4CC"/>
                </a:solidFill>
                <a:latin typeface="Bahnschrift" panose="020B0502040204020203" pitchFamily="34" charset="0"/>
                <a:ea typeface="Consolas Medium" pitchFamily="34" charset="-122"/>
                <a:cs typeface="Consolas Medium" pitchFamily="34" charset="-120"/>
              </a:rPr>
              <a:t>ofstream</a:t>
            </a:r>
            <a:r>
              <a:rPr lang="en-US" sz="1700" i="1" dirty="0">
                <a:solidFill>
                  <a:srgbClr val="D7D4CC"/>
                </a:solidFill>
                <a:latin typeface="Bahnschrift" panose="020B0502040204020203" pitchFamily="34" charset="0"/>
                <a:ea typeface="Consolas Medium" pitchFamily="34" charset="-122"/>
                <a:cs typeface="Consolas Medium" pitchFamily="34" charset="-120"/>
              </a:rPr>
              <a:t> output("client/</a:t>
            </a:r>
            <a:r>
              <a:rPr lang="en-US" sz="1700" i="1" dirty="0" err="1">
                <a:solidFill>
                  <a:srgbClr val="D7D4CC"/>
                </a:solidFill>
                <a:latin typeface="Bahnschrift" panose="020B0502040204020203" pitchFamily="34" charset="0"/>
                <a:ea typeface="Consolas Medium" pitchFamily="34" charset="-122"/>
                <a:cs typeface="Consolas Medium" pitchFamily="34" charset="-120"/>
              </a:rPr>
              <a:t>config.yaml</a:t>
            </a:r>
            <a:r>
              <a:rPr lang="en-US" sz="1700" i="1" dirty="0">
                <a:solidFill>
                  <a:srgbClr val="D7D4CC"/>
                </a:solidFill>
                <a:latin typeface="Bahnschrift" panose="020B0502040204020203" pitchFamily="34" charset="0"/>
                <a:ea typeface="Consolas Medium" pitchFamily="34" charset="-122"/>
                <a:cs typeface="Consolas Medium" pitchFamily="34" charset="-120"/>
              </a:rPr>
              <a:t>");
    output &lt;&lt; config;
    </a:t>
            </a:r>
            <a:r>
              <a:rPr lang="en-US" sz="1700" i="1" dirty="0" err="1">
                <a:solidFill>
                  <a:srgbClr val="D7D4CC"/>
                </a:solidFill>
                <a:latin typeface="Bahnschrift" panose="020B0502040204020203" pitchFamily="34" charset="0"/>
                <a:ea typeface="Consolas Medium" pitchFamily="34" charset="-122"/>
                <a:cs typeface="Consolas Medium" pitchFamily="34" charset="-120"/>
              </a:rPr>
              <a:t>output.close</a:t>
            </a:r>
            <a:r>
              <a:rPr lang="en-US" sz="1700" i="1" dirty="0">
                <a:solidFill>
                  <a:srgbClr val="D7D4CC"/>
                </a:solidFill>
                <a:latin typeface="Bahnschrift" panose="020B0502040204020203" pitchFamily="34" charset="0"/>
                <a:ea typeface="Consolas Medium" pitchFamily="34" charset="-122"/>
                <a:cs typeface="Consolas Medium" pitchFamily="34" charset="-120"/>
              </a:rPr>
              <a:t>();
    Message message("", "server", "REG", </a:t>
            </a:r>
            <a:r>
              <a:rPr lang="en-US" sz="1700" i="1" dirty="0" err="1">
                <a:solidFill>
                  <a:srgbClr val="D7D4CC"/>
                </a:solidFill>
                <a:latin typeface="Bahnschrift" panose="020B0502040204020203" pitchFamily="34" charset="0"/>
                <a:ea typeface="Consolas Medium" pitchFamily="34" charset="-122"/>
                <a:cs typeface="Consolas Medium" pitchFamily="34" charset="-120"/>
              </a:rPr>
              <a:t>readFile</a:t>
            </a:r>
            <a:r>
              <a:rPr lang="en-US" sz="1700" i="1" dirty="0">
                <a:solidFill>
                  <a:srgbClr val="D7D4CC"/>
                </a:solidFill>
                <a:latin typeface="Bahnschrift" panose="020B0502040204020203" pitchFamily="34" charset="0"/>
                <a:ea typeface="Consolas Medium" pitchFamily="34" charset="-122"/>
                <a:cs typeface="Consolas Medium" pitchFamily="34" charset="-120"/>
              </a:rPr>
              <a:t>("client/</a:t>
            </a:r>
            <a:r>
              <a:rPr lang="en-US" sz="1700" i="1" dirty="0" err="1">
                <a:solidFill>
                  <a:srgbClr val="D7D4CC"/>
                </a:solidFill>
                <a:latin typeface="Bahnschrift" panose="020B0502040204020203" pitchFamily="34" charset="0"/>
                <a:ea typeface="Consolas Medium" pitchFamily="34" charset="-122"/>
                <a:cs typeface="Consolas Medium" pitchFamily="34" charset="-120"/>
              </a:rPr>
              <a:t>config.yaml</a:t>
            </a:r>
            <a:r>
              <a:rPr lang="en-US" sz="1700" i="1" dirty="0">
                <a:solidFill>
                  <a:srgbClr val="D7D4CC"/>
                </a:solidFill>
                <a:latin typeface="Bahnschrift" panose="020B0502040204020203" pitchFamily="34" charset="0"/>
                <a:ea typeface="Consolas Medium" pitchFamily="34" charset="-122"/>
                <a:cs typeface="Consolas Medium" pitchFamily="34" charset="-120"/>
              </a:rPr>
              <a:t>"));
    </a:t>
            </a:r>
            <a:r>
              <a:rPr lang="en-US" sz="1700" i="1" dirty="0" err="1">
                <a:solidFill>
                  <a:srgbClr val="D7D4CC"/>
                </a:solidFill>
                <a:latin typeface="Bahnschrift" panose="020B0502040204020203" pitchFamily="34" charset="0"/>
                <a:ea typeface="Consolas Medium" pitchFamily="34" charset="-122"/>
                <a:cs typeface="Consolas Medium" pitchFamily="34" charset="-120"/>
              </a:rPr>
              <a:t>sendMessage</a:t>
            </a:r>
            <a:r>
              <a:rPr lang="en-US" sz="1700" i="1" dirty="0">
                <a:solidFill>
                  <a:srgbClr val="D7D4CC"/>
                </a:solidFill>
                <a:latin typeface="Bahnschrift" panose="020B0502040204020203" pitchFamily="34" charset="0"/>
                <a:ea typeface="Consolas Medium" pitchFamily="34" charset="-122"/>
                <a:cs typeface="Consolas Medium" pitchFamily="34" charset="-120"/>
              </a:rPr>
              <a:t>(message);
    message = </a:t>
            </a:r>
            <a:r>
              <a:rPr lang="en-US" sz="1700" i="1" dirty="0" err="1">
                <a:solidFill>
                  <a:srgbClr val="D7D4CC"/>
                </a:solidFill>
                <a:latin typeface="Bahnschrift" panose="020B0502040204020203" pitchFamily="34" charset="0"/>
                <a:ea typeface="Consolas Medium" pitchFamily="34" charset="-122"/>
                <a:cs typeface="Consolas Medium" pitchFamily="34" charset="-120"/>
              </a:rPr>
              <a:t>readMessage</a:t>
            </a:r>
            <a:r>
              <a:rPr lang="en-US" sz="1700" i="1" dirty="0">
                <a:solidFill>
                  <a:srgbClr val="D7D4CC"/>
                </a:solidFill>
                <a:latin typeface="Bahnschrift" panose="020B0502040204020203" pitchFamily="34" charset="0"/>
                <a:ea typeface="Consolas Medium" pitchFamily="34" charset="-122"/>
                <a:cs typeface="Consolas Medium" pitchFamily="34" charset="-120"/>
              </a:rPr>
              <a:t>();
    if (</a:t>
            </a:r>
            <a:r>
              <a:rPr lang="en-US" sz="1700" i="1" dirty="0" err="1">
                <a:solidFill>
                  <a:srgbClr val="D7D4CC"/>
                </a:solidFill>
                <a:latin typeface="Bahnschrift" panose="020B0502040204020203" pitchFamily="34" charset="0"/>
                <a:ea typeface="Consolas Medium" pitchFamily="34" charset="-122"/>
                <a:cs typeface="Consolas Medium" pitchFamily="34" charset="-120"/>
              </a:rPr>
              <a:t>message.type</a:t>
            </a:r>
            <a:r>
              <a:rPr lang="en-US" sz="1700" i="1" dirty="0">
                <a:solidFill>
                  <a:srgbClr val="D7D4CC"/>
                </a:solidFill>
                <a:latin typeface="Bahnschrift" panose="020B0502040204020203" pitchFamily="34" charset="0"/>
                <a:ea typeface="Consolas Medium" pitchFamily="34" charset="-122"/>
                <a:cs typeface="Consolas Medium" pitchFamily="34" charset="-120"/>
              </a:rPr>
              <a:t> == "REG" and </a:t>
            </a:r>
            <a:r>
              <a:rPr lang="en-US" sz="1700" i="1" dirty="0" err="1">
                <a:solidFill>
                  <a:srgbClr val="D7D4CC"/>
                </a:solidFill>
                <a:latin typeface="Bahnschrift" panose="020B0502040204020203" pitchFamily="34" charset="0"/>
                <a:ea typeface="Consolas Medium" pitchFamily="34" charset="-122"/>
                <a:cs typeface="Consolas Medium" pitchFamily="34" charset="-120"/>
              </a:rPr>
              <a:t>message.text</a:t>
            </a:r>
            <a:r>
              <a:rPr lang="en-US" sz="1700" i="1" dirty="0">
                <a:solidFill>
                  <a:srgbClr val="D7D4CC"/>
                </a:solidFill>
                <a:latin typeface="Bahnschrift" panose="020B0502040204020203" pitchFamily="34" charset="0"/>
                <a:ea typeface="Consolas Medium" pitchFamily="34" charset="-122"/>
                <a:cs typeface="Consolas Medium" pitchFamily="34" charset="-120"/>
              </a:rPr>
              <a:t> == "SUCCEED") { 
        this-&gt;name = </a:t>
            </a:r>
            <a:r>
              <a:rPr lang="en-US" sz="1700" i="1" dirty="0" err="1">
                <a:solidFill>
                  <a:srgbClr val="D7D4CC"/>
                </a:solidFill>
                <a:latin typeface="Bahnschrift" panose="020B0502040204020203" pitchFamily="34" charset="0"/>
                <a:ea typeface="Consolas Medium" pitchFamily="34" charset="-122"/>
                <a:cs typeface="Consolas Medium" pitchFamily="34" charset="-120"/>
              </a:rPr>
              <a:t>name.toStdString</a:t>
            </a:r>
            <a:r>
              <a:rPr lang="en-US" sz="1700" i="1" dirty="0">
                <a:solidFill>
                  <a:srgbClr val="D7D4CC"/>
                </a:solidFill>
                <a:latin typeface="Bahnschrift" panose="020B0502040204020203" pitchFamily="34" charset="0"/>
                <a:ea typeface="Consolas Medium" pitchFamily="34" charset="-122"/>
                <a:cs typeface="Consolas Medium" pitchFamily="34" charset="-120"/>
              </a:rPr>
              <a:t>();
        return 0; 
    }
    else { return 1; }
</a:t>
            </a:r>
            <a:r>
              <a:rPr lang="ru-RU" sz="1700" i="1" dirty="0">
                <a:solidFill>
                  <a:srgbClr val="D7D4CC"/>
                </a:solidFill>
                <a:latin typeface="Bahnschrift" panose="020B0502040204020203" pitchFamily="34" charset="0"/>
                <a:ea typeface="Consolas Medium" pitchFamily="34" charset="-122"/>
                <a:cs typeface="Consolas Medium" pitchFamily="34" charset="-120"/>
              </a:rPr>
              <a:t> </a:t>
            </a:r>
            <a:r>
              <a:rPr lang="en-US" sz="1700" i="1" dirty="0">
                <a:solidFill>
                  <a:srgbClr val="D7D4CC"/>
                </a:solidFill>
                <a:latin typeface="Bahnschrift" panose="020B0502040204020203" pitchFamily="34" charset="0"/>
                <a:ea typeface="Consolas Medium" pitchFamily="34" charset="-122"/>
                <a:cs typeface="Consolas Medium" pitchFamily="34" charset="-120"/>
              </a:rPr>
              <a:t>}</a:t>
            </a:r>
            <a:endParaRPr lang="en-US" sz="1700"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3040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A846EB-F54A-3B33-F885-E2074594E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FFCC00"/>
                </a:solidFill>
                <a:latin typeface="Bahnschrift" panose="020B0502040204020203" pitchFamily="34" charset="0"/>
              </a:rPr>
              <a:t>Трудности и их преодоление</a:t>
            </a:r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1A48A091-1467-6F43-4702-158185CDF538}"/>
              </a:ext>
            </a:extLst>
          </p:cNvPr>
          <p:cNvSpPr/>
          <p:nvPr/>
        </p:nvSpPr>
        <p:spPr>
          <a:xfrm>
            <a:off x="1021079" y="1965960"/>
            <a:ext cx="4907281" cy="1828800"/>
          </a:xfrm>
          <a:prstGeom prst="roundRect">
            <a:avLst/>
          </a:prstGeom>
          <a:solidFill>
            <a:srgbClr val="3B3B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Отслеживание отсоединения клиента </a:t>
            </a:r>
            <a:r>
              <a:rPr lang="ru-RU" dirty="0" err="1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Boost.Asio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 не предоставляет готовых решений для отслеживания отсоединения клиента. Решено отправкой маленького пакета данных каждые несколько секунд.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36C0A4C3-8B89-565E-7651-65087D6F563E}"/>
              </a:ext>
            </a:extLst>
          </p:cNvPr>
          <p:cNvSpPr/>
          <p:nvPr/>
        </p:nvSpPr>
        <p:spPr>
          <a:xfrm>
            <a:off x="6690361" y="2087880"/>
            <a:ext cx="4480560" cy="1341120"/>
          </a:xfrm>
          <a:prstGeom prst="roundRect">
            <a:avLst/>
          </a:prstGeom>
          <a:solidFill>
            <a:srgbClr val="3B3B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Сборка </a:t>
            </a:r>
            <a:r>
              <a:rPr lang="ru-RU" sz="2000" b="1" dirty="0" err="1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QtQuick</a:t>
            </a:r>
            <a:endParaRPr lang="ru-RU" sz="2000" b="1" dirty="0">
              <a:solidFill>
                <a:schemeClr val="bg1">
                  <a:lumMod val="95000"/>
                </a:schemeClr>
              </a:solidFill>
              <a:latin typeface="Bahnschrift" panose="020B0502040204020203" pitchFamily="34" charset="0"/>
            </a:endParaRPr>
          </a:p>
          <a:p>
            <a:pPr algn="ctr"/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 Потребовалось время, чтобы правильно настроить </a:t>
            </a:r>
            <a:r>
              <a:rPr lang="ru-RU" dirty="0" err="1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CMake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 для сборки проекта с модулем </a:t>
            </a:r>
            <a:r>
              <a:rPr lang="ru-RU" dirty="0" err="1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QtQuick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.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FCAF5370-7268-3D62-C44D-36204D2BEE58}"/>
              </a:ext>
            </a:extLst>
          </p:cNvPr>
          <p:cNvSpPr/>
          <p:nvPr/>
        </p:nvSpPr>
        <p:spPr>
          <a:xfrm>
            <a:off x="3154680" y="4191952"/>
            <a:ext cx="4069080" cy="1965008"/>
          </a:xfrm>
          <a:prstGeom prst="roundRect">
            <a:avLst/>
          </a:prstGeom>
          <a:solidFill>
            <a:srgbClr val="3B3B3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b="1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Проектирование протокола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 </a:t>
            </a:r>
          </a:p>
          <a:p>
            <a:pPr algn="ctr"/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Был нужен четкий формат для отличия служебных сообщений от обычных. Решено использованием </a:t>
            </a:r>
            <a:r>
              <a:rPr lang="ru-RU" dirty="0" err="1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json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 и добавлением отдельного значения </a:t>
            </a:r>
            <a:r>
              <a:rPr lang="ru-RU" dirty="0" err="1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type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47359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187879-B5FB-DCC4-8E78-ABB3D4BA1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>
                <a:solidFill>
                  <a:srgbClr val="FFCC00"/>
                </a:solidFill>
                <a:latin typeface="Bahnschrift" panose="020B0502040204020203" pitchFamily="34" charset="0"/>
              </a:rPr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FEC9758-99FC-E614-9305-2239E36B7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В результате был разработан рабочий простейший мессенджер. Благодаря этому проекту мы развили свои навыки программирования на </a:t>
            </a:r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C++, 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Bahnschrift" panose="020B0502040204020203" pitchFamily="34" charset="0"/>
              </a:rPr>
              <a:t>получили ценный опыт по разработке сетевых приложений, а так же получили основу мессенджера, пригодную к дальнейшим модификациям, например, добавлению голосовых сообщений, отправке файлов или шифрованию</a:t>
            </a:r>
          </a:p>
        </p:txBody>
      </p:sp>
    </p:spTree>
    <p:extLst>
      <p:ext uri="{BB962C8B-B14F-4D97-AF65-F5344CB8AC3E}">
        <p14:creationId xmlns:p14="http://schemas.microsoft.com/office/powerpoint/2010/main" val="3280134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7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F5AE1B-3277-90C9-E1D6-3C7314A4C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37401"/>
            <a:ext cx="10515600" cy="1325563"/>
          </a:xfrm>
        </p:spPr>
        <p:txBody>
          <a:bodyPr/>
          <a:lstStyle/>
          <a:p>
            <a:pPr algn="ctr"/>
            <a:r>
              <a:rPr lang="ru-RU" b="1" dirty="0">
                <a:solidFill>
                  <a:srgbClr val="FFCC00"/>
                </a:solidFill>
                <a:latin typeface="Bahnschrift" panose="020B0502040204020203" pitchFamily="34" charset="0"/>
              </a:rPr>
              <a:t>Спасибо за внимание</a:t>
            </a:r>
            <a:r>
              <a:rPr lang="en-US" b="1" dirty="0">
                <a:solidFill>
                  <a:srgbClr val="FFCC00"/>
                </a:solidFill>
                <a:latin typeface="Bahnschrift" panose="020B0502040204020203" pitchFamily="34" charset="0"/>
              </a:rPr>
              <a:t>!</a:t>
            </a:r>
            <a:endParaRPr lang="ru-RU" b="1" dirty="0">
              <a:solidFill>
                <a:srgbClr val="FFCC00"/>
              </a:solidFill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303204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651</Words>
  <Application>Microsoft Office PowerPoint</Application>
  <PresentationFormat>Широкоэкранный</PresentationFormat>
  <Paragraphs>76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Bahnschrift</vt:lpstr>
      <vt:lpstr>Тема Office</vt:lpstr>
      <vt:lpstr>Разработка desktop мессенджера на  С++</vt:lpstr>
      <vt:lpstr>Актуальность, цель и задачи</vt:lpstr>
      <vt:lpstr>Выбор технологий и инструментов</vt:lpstr>
      <vt:lpstr>Архитектура </vt:lpstr>
      <vt:lpstr>Основные этапы разработки</vt:lpstr>
      <vt:lpstr>Демонстрация кода: регистрация пользователя</vt:lpstr>
      <vt:lpstr>Трудности и их преодоление</vt:lpstr>
      <vt:lpstr>Заключение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Вячеслав Горожанкин</dc:creator>
  <cp:lastModifiedBy>Вячеслав Горожанкин</cp:lastModifiedBy>
  <cp:revision>6</cp:revision>
  <dcterms:created xsi:type="dcterms:W3CDTF">2025-12-17T21:00:06Z</dcterms:created>
  <dcterms:modified xsi:type="dcterms:W3CDTF">2025-12-17T23:26:32Z</dcterms:modified>
</cp:coreProperties>
</file>